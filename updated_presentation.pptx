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2192000" cy="6858000"/>
  <p:notesSz cx="6858000" cy="9144000"/>
  <p:embeddedFontLst>
    <p:embeddedFont>
      <p:font typeface="Garamond" panose="02020404030301010803" pitchFamily="18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hVe4XDysDqPOss+5Vewxb+mAAS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10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11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body" idx="1"/>
          </p:nvPr>
        </p:nvSpPr>
        <p:spPr>
          <a:xfrm>
            <a:off x="1298448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body" idx="2"/>
          </p:nvPr>
        </p:nvSpPr>
        <p:spPr>
          <a:xfrm>
            <a:off x="6181344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oogle Shape;36;p12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37" name="Google Shape;37;p12" descr="HD-PanelTitleR1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" name="Google Shape;38;p12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9" name="Google Shape;39;p12" descr="HDRibbonTitle-UniformTrim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" name="Google Shape;40;p12" descr="HDRibbonTitle-UniformTrim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" name="Google Shape;41;p12"/>
          <p:cNvSpPr txBox="1"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Garamond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20"/>
              </a:spcBef>
              <a:spcAft>
                <a:spcPts val="0"/>
              </a:spcAft>
              <a:buSzPts val="241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3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207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84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61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dt" idx="10"/>
          </p:nvPr>
        </p:nvSpPr>
        <p:spPr>
          <a:xfrm>
            <a:off x="7983232" y="5037663"/>
            <a:ext cx="89746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ftr" idx="11"/>
          </p:nvPr>
        </p:nvSpPr>
        <p:spPr>
          <a:xfrm>
            <a:off x="2692397" y="5037663"/>
            <a:ext cx="5214635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sldNum" idx="12"/>
          </p:nvPr>
        </p:nvSpPr>
        <p:spPr>
          <a:xfrm>
            <a:off x="8956900" y="5037663"/>
            <a:ext cx="55116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6" name="Google Shape;46;p12"/>
          <p:cNvCxnSpPr/>
          <p:nvPr/>
        </p:nvCxnSpPr>
        <p:spPr>
          <a:xfrm>
            <a:off x="2692399" y="3522131"/>
            <a:ext cx="681566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3" name="Google Shape;53;p13"/>
          <p:cNvCxnSpPr/>
          <p:nvPr/>
        </p:nvCxnSpPr>
        <p:spPr>
          <a:xfrm>
            <a:off x="2012723" y="3710585"/>
            <a:ext cx="8163380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672"/>
              </a:spcBef>
              <a:spcAft>
                <a:spcPts val="0"/>
              </a:spcAft>
              <a:buSzPts val="3220"/>
              <a:buNone/>
              <a:defRPr sz="28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3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84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129540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3"/>
          </p:nvPr>
        </p:nvSpPr>
        <p:spPr>
          <a:xfrm>
            <a:off x="618067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672"/>
              </a:spcBef>
              <a:spcAft>
                <a:spcPts val="0"/>
              </a:spcAft>
              <a:buSzPts val="3220"/>
              <a:buNone/>
              <a:defRPr sz="28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3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840"/>
              <a:buNone/>
              <a:defRPr sz="1600" b="1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4"/>
          </p:nvPr>
        </p:nvSpPr>
        <p:spPr>
          <a:xfrm>
            <a:off x="618067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9" name="Google Shape;69;p15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body" idx="1"/>
          </p:nvPr>
        </p:nvSpPr>
        <p:spPr>
          <a:xfrm>
            <a:off x="5418668" y="982131"/>
            <a:ext cx="5469466" cy="489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2"/>
          </p:nvPr>
        </p:nvSpPr>
        <p:spPr>
          <a:xfrm>
            <a:off x="1293811" y="3031065"/>
            <a:ext cx="3718455" cy="243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SzPts val="184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7" name="Google Shape;77;p16"/>
          <p:cNvCxnSpPr/>
          <p:nvPr/>
        </p:nvCxnSpPr>
        <p:spPr>
          <a:xfrm>
            <a:off x="1396169" y="2912533"/>
            <a:ext cx="35144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aramond"/>
              <a:buNone/>
              <a:defRPr sz="2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>
            <a:spLocks noGrp="1"/>
          </p:cNvSpPr>
          <p:nvPr>
            <p:ph type="pic" idx="2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noFill/>
          <a:ln w="57150" cap="flat" cmpd="thickThin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1295399" y="3255432"/>
            <a:ext cx="6241816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360"/>
              </a:spcBef>
              <a:spcAft>
                <a:spcPts val="0"/>
              </a:spcAft>
              <a:buSzPts val="2070"/>
              <a:buNone/>
              <a:defRPr sz="18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>
            <a:spLocks noGrp="1"/>
          </p:cNvSpPr>
          <p:nvPr>
            <p:ph type="pic" idx="2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noFill/>
          <a:ln w="57150" cap="flat" cmpd="thickThin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1295401" y="5382153"/>
            <a:ext cx="9609666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280"/>
              </a:spcBef>
              <a:spcAft>
                <a:spcPts val="0"/>
              </a:spcAft>
              <a:buSzPts val="161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sz="32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8" name="Google Shape;98;p19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0"/>
          <p:cNvSpPr txBox="1">
            <a:spLocks noGrp="1"/>
          </p:cNvSpPr>
          <p:nvPr>
            <p:ph type="body" idx="1"/>
          </p:nvPr>
        </p:nvSpPr>
        <p:spPr>
          <a:xfrm>
            <a:off x="1674812" y="3352800"/>
            <a:ext cx="8839202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spcBef>
                <a:spcPts val="400"/>
              </a:spcBef>
              <a:spcAft>
                <a:spcPts val="0"/>
              </a:spcAft>
              <a:buSzPts val="2300"/>
              <a:buFont typeface="Garamond"/>
              <a:buNone/>
              <a:defRPr sz="20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300"/>
              <a:buFont typeface="Garamond"/>
              <a:buNone/>
              <a:defRPr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2070"/>
              <a:buFont typeface="Garamond"/>
              <a:buNone/>
              <a:defRPr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840"/>
              <a:buFont typeface="Garamond"/>
              <a:buNone/>
              <a:defRPr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Font typeface="Garamond"/>
              <a:buNone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body" idx="2"/>
          </p:nvPr>
        </p:nvSpPr>
        <p:spPr>
          <a:xfrm>
            <a:off x="1295401" y="4343399"/>
            <a:ext cx="9609666" cy="153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20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20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07" name="Google Shape;107;p20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08" name="Google Shape;108;p20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sz="32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1"/>
          <p:cNvSpPr txBox="1"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21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1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body" idx="1"/>
          </p:nvPr>
        </p:nvSpPr>
        <p:spPr>
          <a:xfrm>
            <a:off x="1295401" y="3639312"/>
            <a:ext cx="9609668" cy="88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22"/>
          <p:cNvSpPr txBox="1">
            <a:spLocks noGrp="1"/>
          </p:cNvSpPr>
          <p:nvPr>
            <p:ph type="body" idx="2"/>
          </p:nvPr>
        </p:nvSpPr>
        <p:spPr>
          <a:xfrm>
            <a:off x="1295401" y="4529667"/>
            <a:ext cx="9609668" cy="1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22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24" name="Google Shape;124;p22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3"/>
          <p:cNvSpPr txBox="1">
            <a:spLocks noGrp="1"/>
          </p:cNvSpPr>
          <p:nvPr>
            <p:ph type="body" idx="1"/>
          </p:nvPr>
        </p:nvSpPr>
        <p:spPr>
          <a:xfrm>
            <a:off x="1295401" y="3630168"/>
            <a:ext cx="9609668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3220"/>
              <a:buNone/>
              <a:defRPr sz="28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23"/>
          <p:cNvSpPr txBox="1">
            <a:spLocks noGrp="1"/>
          </p:cNvSpPr>
          <p:nvPr>
            <p:ph type="body" idx="2"/>
          </p:nvPr>
        </p:nvSpPr>
        <p:spPr>
          <a:xfrm>
            <a:off x="1295400" y="4470399"/>
            <a:ext cx="9609670" cy="140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23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3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3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2" name="Google Shape;132;p23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4"/>
          <p:cNvSpPr txBox="1">
            <a:spLocks noGrp="1"/>
          </p:cNvSpPr>
          <p:nvPr>
            <p:ph type="body" idx="1"/>
          </p:nvPr>
        </p:nvSpPr>
        <p:spPr>
          <a:xfrm rot="5400000">
            <a:off x="4436531" y="-584198"/>
            <a:ext cx="3318936" cy="960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24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4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4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9" name="Google Shape;139;p24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>
            <a:spLocks noGrp="1"/>
          </p:cNvSpPr>
          <p:nvPr>
            <p:ph type="title"/>
          </p:nvPr>
        </p:nvSpPr>
        <p:spPr>
          <a:xfrm rot="5400000">
            <a:off x="7497936" y="2483551"/>
            <a:ext cx="4893735" cy="1890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5"/>
          <p:cNvSpPr txBox="1">
            <a:spLocks noGrp="1"/>
          </p:cNvSpPr>
          <p:nvPr>
            <p:ph type="body" idx="1"/>
          </p:nvPr>
        </p:nvSpPr>
        <p:spPr>
          <a:xfrm rot="5400000">
            <a:off x="2565043" y="-287514"/>
            <a:ext cx="4893734" cy="743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5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5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46" name="Google Shape;146;p25"/>
          <p:cNvCxnSpPr/>
          <p:nvPr/>
        </p:nvCxnSpPr>
        <p:spPr>
          <a:xfrm>
            <a:off x="8863890" y="990600"/>
            <a:ext cx="0" cy="487680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1C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8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7" name="Google Shape;7;p8" descr="HD-PanelContent.png"/>
            <p:cNvPicPr preferRelativeResize="0"/>
            <p:nvPr/>
          </p:nvPicPr>
          <p:blipFill rotWithShape="1">
            <a:blip r:embed="rId19">
              <a:alphaModFix/>
            </a:blip>
            <a:srcRect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8;p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Google Shape;9;p8" descr="HDRibbonContent-UniformTrim.png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10;p8" descr="HDRibbonContent-UniformTrim.png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" name="Google Shape;11;p8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sz="4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386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760"/>
              <a:buFont typeface="Arial"/>
              <a:buChar char="•"/>
              <a:defRPr sz="2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914400" marR="0" lvl="1" indent="-37465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Char char="•"/>
              <a:defRPr sz="2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1371600" marR="0" lvl="2" indent="-360044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1828800" marR="0" lvl="3" indent="-345439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2286000" marR="0" lvl="4" indent="-33083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2743200" marR="0" lvl="5" indent="-33083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3200400" marR="0" lvl="6" indent="-33083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3657600" marR="0" lvl="7" indent="-330834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4114800" marR="0" lvl="8" indent="-330834" algn="l" rtl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592666"/>
            <a:ext cx="10972800" cy="5672667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"/>
          <p:cNvSpPr txBox="1"/>
          <p:nvPr/>
        </p:nvSpPr>
        <p:spPr>
          <a:xfrm>
            <a:off x="1667933" y="531085"/>
            <a:ext cx="10166845" cy="5539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 MANAGEMENT APP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 Nice GUI-based Web Application for Daily Health Monitoring</a:t>
            </a:r>
            <a:br>
              <a:rPr lang="en-US" sz="4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400" i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AUTHORS:  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MISBAH ZAHREEN &amp;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         SREEDEVI KARTHA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Times New Roman"/>
              <a:buNone/>
            </a:pPr>
            <a:r>
              <a:rPr lang="en-US" sz="4400" b="1" dirty="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dirty="0"/>
          </a:p>
        </p:txBody>
      </p:sp>
      <p:sp>
        <p:nvSpPr>
          <p:cNvPr id="158" name="Google Shape;158;p2"/>
          <p:cNvSpPr txBox="1">
            <a:spLocks noGrp="1"/>
          </p:cNvSpPr>
          <p:nvPr>
            <p:ph type="body" idx="1"/>
          </p:nvPr>
        </p:nvSpPr>
        <p:spPr>
          <a:xfrm>
            <a:off x="1295402" y="2440200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A Smart Daily Health Monitoring Tool</a:t>
            </a:r>
            <a:endParaRPr dirty="0"/>
          </a:p>
          <a:p>
            <a:pPr marL="28575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6289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b="1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What It Does?</a:t>
            </a:r>
            <a:r>
              <a:rPr lang="en-US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285750" lvl="0" indent="-26289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endParaRPr lang="en-US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81786" lvl="3" indent="-285750">
              <a:lnSpc>
                <a:spcPct val="150000"/>
              </a:lnSpc>
              <a:spcBef>
                <a:spcPts val="0"/>
              </a:spcBef>
              <a:buSzPts val="3260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Tracks calories, water, and nutrients</a:t>
            </a:r>
            <a:endParaRPr sz="200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1581786" lvl="3" indent="-285750">
              <a:lnSpc>
                <a:spcPct val="150000"/>
              </a:lnSpc>
              <a:spcBef>
                <a:spcPts val="0"/>
              </a:spcBef>
              <a:buSzPts val="3260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Shows progress with bars &amp; rings</a:t>
            </a:r>
            <a:endParaRPr sz="200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1581786" lvl="3" indent="-285750">
              <a:lnSpc>
                <a:spcPct val="150000"/>
              </a:lnSpc>
              <a:spcBef>
                <a:spcPts val="0"/>
              </a:spcBef>
              <a:buSzPts val="3260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Saves logs automatically</a:t>
            </a:r>
            <a:endParaRPr sz="200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1581786" lvl="3" indent="-285750">
              <a:lnSpc>
                <a:spcPct val="150000"/>
              </a:lnSpc>
              <a:spcBef>
                <a:spcPts val="0"/>
              </a:spcBef>
              <a:buSzPts val="3260"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Updates instantly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 dirty="0"/>
          </a:p>
          <a:p>
            <a:pPr marL="285750" lvl="0" indent="-11049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 dirty="0"/>
          </a:p>
        </p:txBody>
      </p:sp>
      <p:pic>
        <p:nvPicPr>
          <p:cNvPr id="159" name="Google Shape;159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1917" y="3024000"/>
            <a:ext cx="1309500" cy="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/>
          </a:p>
        </p:txBody>
      </p:sp>
      <p:pic>
        <p:nvPicPr>
          <p:cNvPr id="165" name="Google Shape;16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9000" y="2565400"/>
            <a:ext cx="3218447" cy="3428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2806" y="2840566"/>
            <a:ext cx="3914503" cy="2878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32668" y="3081867"/>
            <a:ext cx="2857106" cy="2120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"/>
          <p:cNvSpPr/>
          <p:nvPr/>
        </p:nvSpPr>
        <p:spPr>
          <a:xfrm>
            <a:off x="3987799" y="1083733"/>
            <a:ext cx="1617133" cy="635000"/>
          </a:xfrm>
          <a:prstGeom prst="ellipse">
            <a:avLst/>
          </a:prstGeom>
          <a:solidFill>
            <a:srgbClr val="C0D669"/>
          </a:solidFill>
          <a:ln w="15875" cap="flat" cmpd="sng">
            <a:solidFill>
              <a:srgbClr val="3740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8899522" y="2435975"/>
            <a:ext cx="1617133" cy="635000"/>
          </a:xfrm>
          <a:prstGeom prst="ellipse">
            <a:avLst/>
          </a:prstGeom>
          <a:solidFill>
            <a:srgbClr val="C0D669"/>
          </a:solidFill>
          <a:ln w="15875" cap="flat" cmpd="sng">
            <a:solidFill>
              <a:srgbClr val="3740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174" name="Google Shape;174;p4"/>
          <p:cNvCxnSpPr>
            <a:stCxn id="172" idx="4"/>
          </p:cNvCxnSpPr>
          <p:nvPr/>
        </p:nvCxnSpPr>
        <p:spPr>
          <a:xfrm>
            <a:off x="4796366" y="1718733"/>
            <a:ext cx="0" cy="70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5" name="Google Shape;175;p4"/>
          <p:cNvCxnSpPr/>
          <p:nvPr/>
        </p:nvCxnSpPr>
        <p:spPr>
          <a:xfrm flipH="1">
            <a:off x="4796362" y="3124201"/>
            <a:ext cx="1" cy="702734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6" name="Google Shape;176;p4"/>
          <p:cNvCxnSpPr/>
          <p:nvPr/>
        </p:nvCxnSpPr>
        <p:spPr>
          <a:xfrm flipH="1">
            <a:off x="4796361" y="4539684"/>
            <a:ext cx="1" cy="702734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7" name="Google Shape;177;p4"/>
          <p:cNvCxnSpPr/>
          <p:nvPr/>
        </p:nvCxnSpPr>
        <p:spPr>
          <a:xfrm>
            <a:off x="5681130" y="5711216"/>
            <a:ext cx="81068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8" name="Google Shape;178;p4"/>
          <p:cNvCxnSpPr/>
          <p:nvPr/>
        </p:nvCxnSpPr>
        <p:spPr>
          <a:xfrm rot="10800000">
            <a:off x="7281320" y="1718733"/>
            <a:ext cx="0" cy="65275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9" name="Google Shape;179;p4"/>
          <p:cNvCxnSpPr/>
          <p:nvPr/>
        </p:nvCxnSpPr>
        <p:spPr>
          <a:xfrm rot="10800000">
            <a:off x="7281320" y="3100876"/>
            <a:ext cx="1" cy="728332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0" name="Google Shape;180;p4"/>
          <p:cNvCxnSpPr>
            <a:stCxn id="181" idx="0"/>
          </p:cNvCxnSpPr>
          <p:nvPr/>
        </p:nvCxnSpPr>
        <p:spPr>
          <a:xfrm rot="10800000">
            <a:off x="7281322" y="4569470"/>
            <a:ext cx="0" cy="699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2" name="Google Shape;182;p4"/>
          <p:cNvSpPr/>
          <p:nvPr/>
        </p:nvSpPr>
        <p:spPr>
          <a:xfrm>
            <a:off x="3987799" y="2421467"/>
            <a:ext cx="1617129" cy="729386"/>
          </a:xfrm>
          <a:prstGeom prst="rect">
            <a:avLst/>
          </a:prstGeom>
          <a:solidFill>
            <a:srgbClr val="C0D669"/>
          </a:solidFill>
          <a:ln w="15875" cap="flat" cmpd="sng">
            <a:solidFill>
              <a:srgbClr val="3740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3987799" y="3826950"/>
            <a:ext cx="1617129" cy="729386"/>
          </a:xfrm>
          <a:prstGeom prst="rect">
            <a:avLst/>
          </a:prstGeom>
          <a:solidFill>
            <a:srgbClr val="C0D669"/>
          </a:solidFill>
          <a:ln w="15875" cap="flat" cmpd="sng">
            <a:solidFill>
              <a:srgbClr val="3740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6491817" y="3840094"/>
            <a:ext cx="1617129" cy="729386"/>
          </a:xfrm>
          <a:prstGeom prst="rect">
            <a:avLst/>
          </a:prstGeom>
          <a:solidFill>
            <a:srgbClr val="C0D669"/>
          </a:solidFill>
          <a:ln w="15875" cap="flat" cmpd="sng">
            <a:solidFill>
              <a:srgbClr val="3740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6530980" y="2371490"/>
            <a:ext cx="1617129" cy="729386"/>
          </a:xfrm>
          <a:prstGeom prst="rect">
            <a:avLst/>
          </a:prstGeom>
          <a:solidFill>
            <a:srgbClr val="C0D669"/>
          </a:solidFill>
          <a:ln w="15875" cap="flat" cmpd="sng">
            <a:solidFill>
              <a:srgbClr val="3740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6472757" y="5269070"/>
            <a:ext cx="1617129" cy="729386"/>
          </a:xfrm>
          <a:prstGeom prst="rect">
            <a:avLst/>
          </a:prstGeom>
          <a:solidFill>
            <a:srgbClr val="C0D669"/>
          </a:solidFill>
          <a:ln w="15875" cap="flat" cmpd="sng">
            <a:solidFill>
              <a:srgbClr val="3740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4047066" y="5269070"/>
            <a:ext cx="1617129" cy="729386"/>
          </a:xfrm>
          <a:prstGeom prst="rect">
            <a:avLst/>
          </a:prstGeom>
          <a:solidFill>
            <a:srgbClr val="C0D669"/>
          </a:solidFill>
          <a:ln w="15875" cap="flat" cmpd="sng">
            <a:solidFill>
              <a:srgbClr val="3740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6452658" y="989347"/>
            <a:ext cx="1617129" cy="729386"/>
          </a:xfrm>
          <a:prstGeom prst="rect">
            <a:avLst/>
          </a:prstGeom>
          <a:solidFill>
            <a:srgbClr val="C0D669"/>
          </a:solidFill>
          <a:ln w="15875" cap="flat" cmpd="sng">
            <a:solidFill>
              <a:srgbClr val="3740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188" name="Google Shape;188;p4"/>
          <p:cNvCxnSpPr/>
          <p:nvPr/>
        </p:nvCxnSpPr>
        <p:spPr>
          <a:xfrm>
            <a:off x="8069787" y="1374205"/>
            <a:ext cx="829739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9" name="Google Shape;189;p4"/>
          <p:cNvSpPr/>
          <p:nvPr/>
        </p:nvSpPr>
        <p:spPr>
          <a:xfrm>
            <a:off x="8899526" y="1009512"/>
            <a:ext cx="1617129" cy="729386"/>
          </a:xfrm>
          <a:prstGeom prst="rect">
            <a:avLst/>
          </a:prstGeom>
          <a:solidFill>
            <a:srgbClr val="C0D669"/>
          </a:solidFill>
          <a:ln w="15875" cap="flat" cmpd="sng">
            <a:solidFill>
              <a:srgbClr val="3740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190" name="Google Shape;190;p4"/>
          <p:cNvCxnSpPr/>
          <p:nvPr/>
        </p:nvCxnSpPr>
        <p:spPr>
          <a:xfrm flipH="1">
            <a:off x="9705074" y="1742092"/>
            <a:ext cx="3880" cy="69388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91" name="Google Shape;191;p4"/>
          <p:cNvSpPr txBox="1"/>
          <p:nvPr/>
        </p:nvSpPr>
        <p:spPr>
          <a:xfrm>
            <a:off x="4345577" y="1246250"/>
            <a:ext cx="10101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START</a:t>
            </a:r>
            <a:endParaRPr/>
          </a:p>
        </p:txBody>
      </p:sp>
      <p:sp>
        <p:nvSpPr>
          <p:cNvPr id="192" name="Google Shape;192;p4"/>
          <p:cNvSpPr txBox="1"/>
          <p:nvPr/>
        </p:nvSpPr>
        <p:spPr>
          <a:xfrm>
            <a:off x="6443126" y="5470284"/>
            <a:ext cx="169545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INITIALISE UI</a:t>
            </a:r>
            <a:endParaRPr/>
          </a:p>
        </p:txBody>
      </p:sp>
      <p:sp>
        <p:nvSpPr>
          <p:cNvPr id="193" name="Google Shape;193;p4"/>
          <p:cNvSpPr txBox="1"/>
          <p:nvPr/>
        </p:nvSpPr>
        <p:spPr>
          <a:xfrm>
            <a:off x="4083061" y="5342124"/>
            <a:ext cx="158113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LOAD JSON LOG</a:t>
            </a:r>
            <a:endParaRPr/>
          </a:p>
        </p:txBody>
      </p:sp>
      <p:sp>
        <p:nvSpPr>
          <p:cNvPr id="194" name="Google Shape;194;p4"/>
          <p:cNvSpPr txBox="1"/>
          <p:nvPr/>
        </p:nvSpPr>
        <p:spPr>
          <a:xfrm>
            <a:off x="4148397" y="3910005"/>
            <a:ext cx="147612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RENAME COLUMNS</a:t>
            </a:r>
            <a:endParaRPr/>
          </a:p>
        </p:txBody>
      </p:sp>
      <p:sp>
        <p:nvSpPr>
          <p:cNvPr id="195" name="Google Shape;195;p4"/>
          <p:cNvSpPr txBox="1"/>
          <p:nvPr/>
        </p:nvSpPr>
        <p:spPr>
          <a:xfrm>
            <a:off x="4224627" y="2551517"/>
            <a:ext cx="13803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LOAD CSV</a:t>
            </a:r>
            <a:endParaRPr/>
          </a:p>
        </p:txBody>
      </p:sp>
      <p:sp>
        <p:nvSpPr>
          <p:cNvPr id="196" name="Google Shape;196;p4"/>
          <p:cNvSpPr txBox="1"/>
          <p:nvPr/>
        </p:nvSpPr>
        <p:spPr>
          <a:xfrm>
            <a:off x="6729129" y="3896520"/>
            <a:ext cx="157846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USER ACTION</a:t>
            </a:r>
            <a:endParaRPr/>
          </a:p>
        </p:txBody>
      </p:sp>
      <p:sp>
        <p:nvSpPr>
          <p:cNvPr id="197" name="Google Shape;197;p4"/>
          <p:cNvSpPr txBox="1"/>
          <p:nvPr/>
        </p:nvSpPr>
        <p:spPr>
          <a:xfrm>
            <a:off x="6742864" y="2441230"/>
            <a:ext cx="165629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UPDATE TOTALS</a:t>
            </a:r>
            <a:endParaRPr/>
          </a:p>
        </p:txBody>
      </p:sp>
      <p:sp>
        <p:nvSpPr>
          <p:cNvPr id="198" name="Google Shape;198;p4"/>
          <p:cNvSpPr txBox="1"/>
          <p:nvPr/>
        </p:nvSpPr>
        <p:spPr>
          <a:xfrm>
            <a:off x="6694418" y="1059087"/>
            <a:ext cx="13753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UPDATE VISUALS</a:t>
            </a:r>
            <a:endParaRPr/>
          </a:p>
        </p:txBody>
      </p:sp>
      <p:sp>
        <p:nvSpPr>
          <p:cNvPr id="199" name="Google Shape;199;p4"/>
          <p:cNvSpPr txBox="1"/>
          <p:nvPr/>
        </p:nvSpPr>
        <p:spPr>
          <a:xfrm>
            <a:off x="9019743" y="1169374"/>
            <a:ext cx="1537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SAVE JSON</a:t>
            </a:r>
            <a:endParaRPr/>
          </a:p>
        </p:txBody>
      </p:sp>
      <p:sp>
        <p:nvSpPr>
          <p:cNvPr id="200" name="Google Shape;200;p4"/>
          <p:cNvSpPr txBox="1"/>
          <p:nvPr/>
        </p:nvSpPr>
        <p:spPr>
          <a:xfrm>
            <a:off x="9344453" y="2568809"/>
            <a:ext cx="10101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END</a:t>
            </a:r>
            <a:endParaRPr/>
          </a:p>
        </p:txBody>
      </p:sp>
      <p:sp>
        <p:nvSpPr>
          <p:cNvPr id="201" name="Google Shape;201;p4"/>
          <p:cNvSpPr txBox="1"/>
          <p:nvPr/>
        </p:nvSpPr>
        <p:spPr>
          <a:xfrm>
            <a:off x="897468" y="2736183"/>
            <a:ext cx="292832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FLOWCHART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B6E758-D827-2DA4-0F38-0AD0938B7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20" y="0"/>
            <a:ext cx="1157475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A9BD5C-DE74-378C-F36C-70C4481A7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619135"/>
            <a:ext cx="9999134" cy="563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797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Times New Roman"/>
              <a:buNone/>
            </a:pPr>
            <a:b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FUTURE ENHANCEMENTS</a:t>
            </a:r>
            <a:endParaRPr/>
          </a:p>
        </p:txBody>
      </p:sp>
      <p:sp>
        <p:nvSpPr>
          <p:cNvPr id="212" name="Google Shape;212;p6"/>
          <p:cNvSpPr txBox="1">
            <a:spLocks noGrp="1"/>
          </p:cNvSpPr>
          <p:nvPr>
            <p:ph type="body" idx="1"/>
          </p:nvPr>
        </p:nvSpPr>
        <p:spPr>
          <a:xfrm>
            <a:off x="1298448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0" algn="l" rtl="0">
              <a:spcBef>
                <a:spcPts val="1081"/>
              </a:spcBef>
              <a:spcAft>
                <a:spcPts val="0"/>
              </a:spcAft>
              <a:buNone/>
            </a:pPr>
            <a:endParaRPr/>
          </a:p>
          <a:p>
            <a:pPr marL="285750" lvl="0" indent="-123634" algn="l" rtl="0">
              <a:spcBef>
                <a:spcPts val="1044"/>
              </a:spcBef>
              <a:spcAft>
                <a:spcPts val="0"/>
              </a:spcAft>
              <a:buSzPts val="2760"/>
              <a:buNone/>
            </a:pPr>
            <a:endParaRPr/>
          </a:p>
        </p:txBody>
      </p:sp>
      <p:sp>
        <p:nvSpPr>
          <p:cNvPr id="213" name="Google Shape;213;p6"/>
          <p:cNvSpPr txBox="1">
            <a:spLocks noGrp="1"/>
          </p:cNvSpPr>
          <p:nvPr>
            <p:ph type="body" idx="2"/>
          </p:nvPr>
        </p:nvSpPr>
        <p:spPr>
          <a:xfrm>
            <a:off x="1674002" y="2560325"/>
            <a:ext cx="9225600" cy="3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99989" algn="l" rtl="0">
              <a:spcBef>
                <a:spcPts val="1081"/>
              </a:spcBef>
              <a:spcAft>
                <a:spcPts val="0"/>
              </a:spcAft>
              <a:buSzPts val="2990"/>
              <a:buChar char="•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Weekly or monthly charts</a:t>
            </a:r>
            <a:endParaRPr/>
          </a:p>
          <a:p>
            <a:pPr marL="285750" lvl="0" indent="-299989" algn="l" rtl="0">
              <a:spcBef>
                <a:spcPts val="1081"/>
              </a:spcBef>
              <a:spcAft>
                <a:spcPts val="0"/>
              </a:spcAft>
              <a:buSzPts val="2990"/>
              <a:buChar char="•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Export data to PDF or CSV</a:t>
            </a:r>
            <a:endParaRPr/>
          </a:p>
          <a:p>
            <a:pPr marL="285750" lvl="0" indent="-299989" algn="l" rtl="0">
              <a:spcBef>
                <a:spcPts val="1081"/>
              </a:spcBef>
              <a:spcAft>
                <a:spcPts val="0"/>
              </a:spcAft>
              <a:buSzPts val="2990"/>
              <a:buChar char="•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Notifications for hydration</a:t>
            </a:r>
            <a:endParaRPr/>
          </a:p>
          <a:p>
            <a:pPr marL="285750" lvl="0" indent="-299989" algn="l" rtl="0">
              <a:spcBef>
                <a:spcPts val="1081"/>
              </a:spcBef>
              <a:spcAft>
                <a:spcPts val="0"/>
              </a:spcAft>
              <a:buSzPts val="2990"/>
              <a:buChar char="•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Food database integration</a:t>
            </a:r>
            <a:endParaRPr/>
          </a:p>
          <a:p>
            <a:pPr marL="285750" lvl="0" indent="-299989" algn="l" rtl="0">
              <a:spcBef>
                <a:spcPts val="1081"/>
              </a:spcBef>
              <a:spcAft>
                <a:spcPts val="0"/>
              </a:spcAft>
              <a:buSzPts val="2990"/>
              <a:buChar char="•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AI-based meal suggestions</a:t>
            </a:r>
            <a:endParaRPr/>
          </a:p>
          <a:p>
            <a:pPr marL="0" lvl="0" indent="0" algn="l" rtl="0">
              <a:spcBef>
                <a:spcPts val="1044"/>
              </a:spcBef>
              <a:spcAft>
                <a:spcPts val="0"/>
              </a:spcAft>
              <a:buSzPts val="2760"/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</p:txBody>
      </p:sp>
      <p:sp>
        <p:nvSpPr>
          <p:cNvPr id="219" name="Google Shape;219;p7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Water &amp; Nutrition Tracker offers an easy, visual, and effective way to monitor everyday health.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85750" algn="l" rtl="0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 simple interface, real-time updates, and flexible design make it suitable for both toddlers and adults</a:t>
            </a:r>
            <a:r>
              <a:rPr lang="en-US"/>
              <a:t>.</a:t>
            </a:r>
            <a:endParaRPr/>
          </a:p>
          <a:p>
            <a:pPr marL="0" lvl="0" indent="0" algn="l" rtl="0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ganic">
  <a:themeElements>
    <a:clrScheme name="Organic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145</Words>
  <Application>Microsoft Office PowerPoint</Application>
  <PresentationFormat>Widescreen</PresentationFormat>
  <Paragraphs>42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Times New Roman</vt:lpstr>
      <vt:lpstr>Garamond</vt:lpstr>
      <vt:lpstr>Arial</vt:lpstr>
      <vt:lpstr>Organic</vt:lpstr>
      <vt:lpstr>PowerPoint Presentation</vt:lpstr>
      <vt:lpstr>INTRODUCTION</vt:lpstr>
      <vt:lpstr>MOTIVATION</vt:lpstr>
      <vt:lpstr>PowerPoint Presentation</vt:lpstr>
      <vt:lpstr>PowerPoint Presentation</vt:lpstr>
      <vt:lpstr>PowerPoint Presentation</vt:lpstr>
      <vt:lpstr> FUTURE ENHANCEMENTS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Sreedevi Kartha</dc:creator>
  <cp:lastModifiedBy>Sreedevi Kartha</cp:lastModifiedBy>
  <cp:revision>2</cp:revision>
  <dcterms:created xsi:type="dcterms:W3CDTF">2025-11-26T09:16:05Z</dcterms:created>
  <dcterms:modified xsi:type="dcterms:W3CDTF">2025-12-04T19:17:11Z</dcterms:modified>
</cp:coreProperties>
</file>